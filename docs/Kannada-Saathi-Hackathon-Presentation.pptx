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3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13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E8890B"/>
                </a:solidFill>
                <a:latin typeface="Calibri"/>
              </a:rPr>
              <a:t>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13232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Kannada Saathi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E8890B"/>
                </a:solidFill>
                <a:latin typeface="Calibri"/>
              </a:rPr>
              <a:t>ಕನ್ನಡ ಸಾಥಿ · your Kannada companion for everyday Karnataka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9418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Speak Kannada. Navigate Karnataka with confidence.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9E0F2"/>
                </a:solidFill>
                <a:latin typeface="Calibri"/>
              </a:rPr>
              <a:t>A working, offline-first communication companion — not another vocabulary quiz.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10128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D9E0F2"/>
                </a:solidFill>
                <a:latin typeface="Calibri"/>
              </a:rPr>
              <a:t>Kannada Digital Innovation Hackathon 2026 · HackerRank Campus Crew × NIE Mysuru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890B"/>
                </a:solidFill>
                <a:latin typeface="Calibri"/>
              </a:rPr>
              <a:t>Problem statement #3 — Kannada in Everyday Life   (supporting capability: #2 Voice of Kannada)   ·   Individual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400" b="1" i="0">
                <a:solidFill>
                  <a:srgbClr val="9A5305"/>
                </a:solidFill>
                <a:latin typeface="Calibri"/>
              </a:rPr>
              <a:t>111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reviewed phrases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457200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400" b="1" i="0">
                <a:solidFill>
                  <a:srgbClr val="9A5305"/>
                </a:solidFill>
                <a:latin typeface="Calibri"/>
              </a:rPr>
              <a:t>8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everyday situations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457200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400" b="1" i="0">
                <a:solidFill>
                  <a:srgbClr val="9A5305"/>
                </a:solidFill>
                <a:latin typeface="Calibri"/>
              </a:rPr>
              <a:t>6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role-play scenes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26296" y="457200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400" b="1" i="0">
                <a:solidFill>
                  <a:srgbClr val="9A5305"/>
                </a:solidFill>
                <a:latin typeface="Calibri"/>
              </a:rPr>
              <a:t>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API keys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React 18 · TypeScript strict · Vite 8 · Tailwind · 290 bundled Kannada recordings · 83 passing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PROBLEM STATEMENT · KANNADA IN EVERYDAY LIFE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Public life in Karnataka runs on spoken Kannada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41527E"/>
                </a:solidFill>
                <a:latin typeface="Calibri"/>
              </a:rPr>
              <a:t>Students, professionals, patients, workers and visitors need sentences, sounds and tone — not word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943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31B31"/>
                </a:solidFill>
                <a:latin typeface="Calibri"/>
              </a:rPr>
              <a:t>Signage and counters are Kannada-first</a:t>
            </a:r>
            <a:r>
              <a:rPr sz="1400" b="0" i="0">
                <a:solidFill>
                  <a:srgbClr val="41527E"/>
                </a:solidFill>
                <a:latin typeface="Calibri"/>
              </a:rPr>
              <a:t> — shops, hospitals, rail and bus infrastructure, government offices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31B31"/>
                </a:solidFill>
                <a:latin typeface="Calibri"/>
              </a:rPr>
              <a:t>Translation tools stop at the word</a:t>
            </a:r>
            <a:r>
              <a:rPr sz="1400" b="0" i="0">
                <a:solidFill>
                  <a:srgbClr val="41527E"/>
                </a:solidFill>
                <a:latin typeface="Calibri"/>
              </a:rPr>
              <a:t> — they do not give a beginner a polite, complete sentence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31B31"/>
                </a:solidFill>
                <a:latin typeface="Calibri"/>
              </a:rPr>
              <a:t>The cost is access, not embarrassment</a:t>
            </a:r>
            <a:r>
              <a:rPr sz="1400" b="0" i="0">
                <a:solidFill>
                  <a:srgbClr val="41527E"/>
                </a:solidFill>
                <a:latin typeface="Calibri"/>
              </a:rPr>
              <a:t> — missed stop · overpaid fare · wrong dosage timing · a visit conducted through a third person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31B31"/>
                </a:solidFill>
                <a:latin typeface="Calibri"/>
              </a:rPr>
              <a:t>The barrier is social</a:t>
            </a:r>
            <a:r>
              <a:rPr sz="1400" b="0" i="0">
                <a:solidFill>
                  <a:srgbClr val="41527E"/>
                </a:solidFill>
                <a:latin typeface="Calibri"/>
              </a:rPr>
              <a:t> — people stay silent because a mistake feels rude, and no tool rehearses the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9659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Six moments the app is built around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468880"/>
            <a:ext cx="4663440" cy="530352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FE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ಬಸ್ ನಿಲ್ದಾಣ ಎಲ್ಲಿದೆ?   </a:t>
            </a:r>
            <a:r>
              <a:rPr sz="1200" b="0" i="0">
                <a:solidFill>
                  <a:srgbClr val="41527E"/>
                </a:solidFill>
                <a:latin typeface="Calibri"/>
              </a:rPr>
              <a:t>Where is the bus station?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3072384"/>
            <a:ext cx="4663440" cy="530352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FE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ಇದರ ಬೆಲೆ ಎಷ್ಟು?   </a:t>
            </a:r>
            <a:r>
              <a:rPr sz="1200" b="0" i="0">
                <a:solidFill>
                  <a:srgbClr val="41527E"/>
                </a:solidFill>
                <a:latin typeface="Calibri"/>
              </a:rPr>
              <a:t>How much is this?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3675888"/>
            <a:ext cx="4663440" cy="530352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FE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ಎರಡು ದಿನಗಳಿಂದ ಜ್ವರ ಇದೆ.   </a:t>
            </a:r>
            <a:r>
              <a:rPr sz="1200" b="0" i="0">
                <a:solidFill>
                  <a:srgbClr val="41527E"/>
                </a:solidFill>
                <a:latin typeface="Calibri"/>
              </a:rPr>
              <a:t>Fever for two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4279392"/>
            <a:ext cx="4663440" cy="530352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FE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ಈ ಮಾತ್ರೆ ಖಾಲಿ ಹೊಟ್ಟೆಯಲ್ಲಿಯೇ?   </a:t>
            </a:r>
            <a:r>
              <a:rPr sz="1200" b="0" i="0">
                <a:solidFill>
                  <a:srgbClr val="41527E"/>
                </a:solidFill>
                <a:latin typeface="Calibri"/>
              </a:rPr>
              <a:t>Tablet on an empty stomach?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882896"/>
            <a:ext cx="4663440" cy="530352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FE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ಮೀಟರ್ ಹಾಕಿ, ಸಾರ್.   </a:t>
            </a:r>
            <a:r>
              <a:rPr sz="1200" b="0" i="0">
                <a:solidFill>
                  <a:srgbClr val="41527E"/>
                </a:solidFill>
                <a:latin typeface="Calibri"/>
              </a:rPr>
              <a:t>Use the meter, sir.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5486400"/>
            <a:ext cx="4663440" cy="530352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FE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ಒಂದು ಕೋಣೆ ಖಾಲಿ ಇದೆಯೇ?   </a:t>
            </a:r>
            <a:r>
              <a:rPr sz="1200" b="0" i="0">
                <a:solidFill>
                  <a:srgbClr val="41527E"/>
                </a:solidFill>
                <a:latin typeface="Calibri"/>
              </a:rPr>
              <a:t>Is a room free?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Requirement read-back: help people learn and use Kannada in travel, shopping, education, healthcare, transportation and workplaces.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WHO IS AFFECTED · AND WHAT THEY LOSE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Same city, different silence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592"/>
                <a:gridCol w="4559808"/>
                <a:gridCol w="3108960"/>
              </a:tblGrid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The moment they cannot handle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Today's workaround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First-year students (Mysuru, Manipal, Bengaluru)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classroom office, hostel mess, asking a question in class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English, or a Kannada-speaking friend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Transferred professionals &amp; site staff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auto fare, shop bargaining, small talk with colleagues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translation app, one word at a time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Patients and caregivers from other states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describe pain, confirm dosage timing, follow-up date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gesture, third-party interpreting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Market, domestic and gig workers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employer instructions, pharmacy, bus conductor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pidgin Kannada, repeated mistakes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Tourists at Hampi, Coorg, Gokarna, Mysuru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entry fee, photo permission, guide, hotel basics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phone maps, cash-only confusion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9A5305"/>
                </a:solidFill>
                <a:latin typeface="Calibri"/>
              </a:rPr>
              <a:t>Impact goal: </a:t>
            </a:r>
            <a:r>
              <a:rPr sz="1600" b="0" i="0">
                <a:solidFill>
                  <a:srgbClr val="131B31"/>
                </a:solidFill>
                <a:latin typeface="Calibri"/>
              </a:rPr>
              <a:t>after eight minutes in the app, a learner completes one real transaction in the situation they just rehearsed — without switching to English or waving a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Target users: anyone literate in English who is functionally silent in Kannada.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EXISTING SYSTEM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Today's tools translate words. They do not survive a counter.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88136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852160"/>
              </a:tblGrid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Existing option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 well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Where it fails at the moment of need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Google Translate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fast word/sentence pairs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no situation, no tone, no practice, no polite-vs-blunt choice, useless offline on venue Wi-Fi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Duolingo-style apps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habit, gamification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weeks of lessons before one usable sentence; topic lists, not bus stands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YouTube basic-Kannada videos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listening exposure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passive; nothing retrievable when you are already standing at the counter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PDF phrasebooks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dense content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script without sound or transliteration; no meaning of *when* to say it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Asking a local friend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accurate, warm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31B31"/>
                          </a:solidFill>
                          <a:latin typeface="Calibri"/>
                        </a:rPr>
                        <a:t>not available at 6 a.m. at a bus stand; no repetition for the learner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8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The real gap: </a:t>
            </a:r>
            <a:r>
              <a:rPr sz="1500" b="0" i="0">
                <a:solidFill>
                  <a:srgbClr val="131B31"/>
                </a:solidFill>
                <a:latin typeface="Calibri"/>
              </a:rPr>
              <a:t>a sentence you can say, the sound of it, the tone that makes it polite, and a rehearsal of the reply you will actually 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A gap in workflow, not in vocabulary data — so the fix is product shape, not a bigger word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THE SOLUTION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Kannada Saathi: organised by the moment you are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A · Situations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31B31"/>
                </a:solidFill>
                <a:latin typeface="Calibri"/>
              </a:rPr>
              <a:t>8 situation cards → 111 reviewed phrases. Script + transliteration + meaning + when-to-use + bundled Kannada audio + copy + bookmark.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659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B · Voice practice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31B31"/>
                </a:solidFill>
                <a:latin typeface="Calibri"/>
              </a:rPr>
              <a:t>Bundled Kannada recording for every target, kn-IN recognition where supported, typed fallback, capability dashboard. Text-similarity feedback — never a fake accent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C · Role-play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31B31"/>
                </a:solidFill>
                <a:latin typeface="Calibri"/>
              </a:rPr>
              <a:t>6 branching scenes. The other person replies; every choice gets a coaching note; risky-but-understood replies are explained, not failed.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375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D · Phrasebook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31B31"/>
                </a:solidFill>
                <a:latin typeface="Calibri"/>
              </a:rPr>
              <a:t>Ranked search across all four fields, situation filter, sort modes, recently viewed; favourites persist on-device and export as .txt from /favorites.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E · Quiz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31B31"/>
                </a:solidFill>
                <a:latin typeface="Calibri"/>
              </a:rPr>
              <a:t>12 curated judgement questions + a generator over the same data, 4 question types, matching round, best score kept, misses returned as review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091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F · Culture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31B31"/>
                </a:solidFill>
                <a:latin typeface="Calibri"/>
              </a:rPr>
              <a:t>10 context notes (namaskāra gesture, -ರು respect, akka/appa/mama, temple etiquette) + regional variants, each badged for native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A5305"/>
                </a:solidFill>
                <a:latin typeface="Calibri"/>
              </a:rPr>
              <a:t>Bonus: </a:t>
            </a:r>
            <a:r>
              <a:rPr sz="1400" b="0" i="0">
                <a:solidFill>
                  <a:srgbClr val="131B31"/>
                </a:solidFill>
                <a:latin typeface="Calibri"/>
              </a:rPr>
              <a:t>“What do I say?” — describe the problem in English, get ranked Kannada lines. Retrieval over the reviewed dataset; works with zero network.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Every feature above is implemented and reachable in the live build — no mock screens.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HOW THIS IS DIFFERENT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Four decisions nobody else in this category is 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31B31"/>
                </a:solidFill>
                <a:latin typeface="Calibri"/>
              </a:rPr>
              <a:t>Situation-first, not word-first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Content is indexed by the pressure you are under, so retrieval at a counter takes one tap instead of a dictionary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31B31"/>
                </a:solidFill>
                <a:latin typeface="Calibri"/>
              </a:rPr>
              <a:t>Honest capability reporting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The app plays a real bundled Kannada recording even when the browser has no kn-IN voice, reports recognition gaps honestly, and refuses to display a pronunciation score it cannot compute.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31B31"/>
                </a:solidFill>
                <a:latin typeface="Calibri"/>
              </a:rPr>
              <a:t>Role-play that explains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A polite-but-wrong reply is answered and annotated, because that is what happens in real speech — the lesson is in the tone, not the vocabulary.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0332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31B31"/>
                </a:solidFill>
                <a:latin typeface="Calibri"/>
              </a:rPr>
              <a:t>Local-first, reviewable data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41527E"/>
                </a:solidFill>
                <a:latin typeface="Calibri"/>
              </a:rPr>
              <a:t>No backend, no key, no third-party/API fetch (audio is bundled). Every phrase carries a review status, so a native speaker can audit and fix the dataset in one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3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Judged on innovation? The innovation is the trust model: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107 standard lines, 4 visibly badged for review, 0 invented dialects, 80 automated tests that police the data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Existing system: words. This: sentences, sound, tone, rehearsal, and knowing what it does not know.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APPROACH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How it is built, and why each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890B"/>
                </a:solidFill>
                <a:latin typeface="Calibri"/>
              </a:rPr>
              <a:t>1.  </a:t>
            </a:r>
            <a:r>
              <a:rPr sz="1350" b="1" i="0">
                <a:solidFill>
                  <a:srgbClr val="131B31"/>
                </a:solidFill>
                <a:latin typeface="Calibri"/>
              </a:rPr>
              <a:t>Model the data first — 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Phrase / Category / ConversationScenario / QuizQuestion / ProgressState as TypeScript types in src/types. 111 phrases and 6 scenes as typed modules compiled into the bundle → content on first paint, no fetch, no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15184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890B"/>
                </a:solidFill>
                <a:latin typeface="Calibri"/>
              </a:rPr>
              <a:t>2.  </a:t>
            </a:r>
            <a:r>
              <a:rPr sz="1350" b="1" i="0">
                <a:solidFill>
                  <a:srgbClr val="131B31"/>
                </a:solidFill>
                <a:latin typeface="Calibri"/>
              </a:rPr>
              <a:t>One state owner — 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ProgressProvider context exposes favourites, recent, practice log, scenes, quiz best. services/storage.ts writes one versioned localStorage key with defensive hydration → refresh-safe, multi-tab safe, quota-safe.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55848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890B"/>
                </a:solidFill>
                <a:latin typeface="Calibri"/>
              </a:rPr>
              <a:t>3.  </a:t>
            </a:r>
            <a:r>
              <a:rPr sz="1350" b="1" i="0">
                <a:solidFill>
                  <a:srgbClr val="131B31"/>
                </a:solidFill>
                <a:latin typeface="Calibri"/>
              </a:rPr>
              <a:t>Capability layer for voice — 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detectCapabilities() reads speechSynthesis voices, SpeechRecognition and secure context. Every entry point returns a typed reason (no-tts / no-voices / permission-denied / no-speech / network) instead of throwing.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9651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890B"/>
                </a:solidFill>
                <a:latin typeface="Calibri"/>
              </a:rPr>
              <a:t>4.  </a:t>
            </a:r>
            <a:r>
              <a:rPr sz="1350" b="1" i="0">
                <a:solidFill>
                  <a:srgbClr val="131B31"/>
                </a:solidFill>
                <a:latin typeface="Calibri"/>
              </a:rPr>
              <a:t>One normalisation layer — 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utils/text.ts (NFKD, diacritic- and ZWNJ-tolerant) is shared by search, the assistant and the similarity comparison, so transliteration quirks never split the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37176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890B"/>
                </a:solidFill>
                <a:latin typeface="Calibri"/>
              </a:rPr>
              <a:t>5.  </a:t>
            </a:r>
            <a:r>
              <a:rPr sz="1350" b="1" i="0">
                <a:solidFill>
                  <a:srgbClr val="131B31"/>
                </a:solidFill>
                <a:latin typeface="Calibri"/>
              </a:rPr>
              <a:t>Role-play as a graph — 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Nodes + options with a mandatory `next` (node id or end). Tests walk every edge, so no scene can dead-end; free text resolves through the same search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890B"/>
                </a:solidFill>
                <a:latin typeface="Calibri"/>
              </a:rPr>
              <a:t>6.  </a:t>
            </a:r>
            <a:r>
              <a:rPr sz="1350" b="1" i="0">
                <a:solidFill>
                  <a:srgbClr val="131B31"/>
                </a:solidFill>
                <a:latin typeface="Calibri"/>
              </a:rPr>
              <a:t>Optional AI, fenced off — 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assistant.ts is offline retrieval by default. VITE_AI_PROXY_URL points at your own proxy — the provider key never ships, because VITE_* is inlined into public JS.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Key design decision: reliability beats feature count. Nothing in the core flow can fail because a service is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FEATURE WALKTHROUGH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One user, one morning, six screens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020824"/>
            <a:ext cx="3063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Open → Situations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1527E"/>
                </a:solidFill>
                <a:latin typeface="Calibri"/>
              </a:rPr>
              <a:t>eight cards, each showing how many phrases you have opened</a:t>
            </a:r>
          </a:p>
        </p:txBody>
      </p:sp>
      <p:sp>
        <p:nvSpPr>
          <p:cNvPr id="7" name="Oval 6"/>
          <p:cNvSpPr/>
          <p:nvPr/>
        </p:nvSpPr>
        <p:spPr>
          <a:xfrm>
            <a:off x="4343400" y="2057400"/>
            <a:ext cx="384048" cy="384048"/>
          </a:xfrm>
          <a:prstGeom prst="ellipse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020824"/>
            <a:ext cx="3063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Hospital &amp; pharmacy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1527E"/>
                </a:solidFill>
                <a:latin typeface="Calibri"/>
              </a:rPr>
              <a:t>tap a card: script, transliteration, meaning, when-to-use, play, copy, save</a:t>
            </a:r>
          </a:p>
        </p:txBody>
      </p:sp>
      <p:sp>
        <p:nvSpPr>
          <p:cNvPr id="9" name="Oval 8"/>
          <p:cNvSpPr/>
          <p:nvPr/>
        </p:nvSpPr>
        <p:spPr>
          <a:xfrm>
            <a:off x="8046719" y="2057400"/>
            <a:ext cx="384048" cy="384048"/>
          </a:xfrm>
          <a:prstGeom prst="ellipse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39" y="2020824"/>
            <a:ext cx="3063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What do I say?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1527E"/>
                </a:solidFill>
                <a:latin typeface="Calibri"/>
              </a:rPr>
              <a:t>type “I have fever since two days” → ranked Kannada lines, offline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74720"/>
            <a:ext cx="384048" cy="384048"/>
          </a:xfrm>
          <a:prstGeom prst="ellipse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38144"/>
            <a:ext cx="3063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Role-play: bus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1527E"/>
                </a:solidFill>
                <a:latin typeface="Calibri"/>
              </a:rPr>
              <a:t>choose a reply → the conductor answers → coaching note + alternatives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3474720"/>
            <a:ext cx="384048" cy="384048"/>
          </a:xfrm>
          <a:prstGeom prst="ellipse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438144"/>
            <a:ext cx="3063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Voice practice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1527E"/>
                </a:solidFill>
                <a:latin typeface="Calibri"/>
              </a:rPr>
              <a:t>mic in kn-IN, or type it → text-match score + capability truth panel</a:t>
            </a:r>
          </a:p>
        </p:txBody>
      </p:sp>
      <p:sp>
        <p:nvSpPr>
          <p:cNvPr id="15" name="Oval 14"/>
          <p:cNvSpPr/>
          <p:nvPr/>
        </p:nvSpPr>
        <p:spPr>
          <a:xfrm>
            <a:off x="8046719" y="3474720"/>
            <a:ext cx="384048" cy="384048"/>
          </a:xfrm>
          <a:prstGeom prst="ellipse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39" y="3438144"/>
            <a:ext cx="3063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 i="0">
                <a:solidFill>
                  <a:srgbClr val="131B31"/>
                </a:solidFill>
                <a:latin typeface="Calibri"/>
              </a:rPr>
              <a:t>Quiz &amp; refresh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1527E"/>
                </a:solidFill>
                <a:latin typeface="Calibri"/>
              </a:rPr>
              <a:t>answer → matching round → best score kept; favourites survive F5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2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F7A45"/>
                </a:solidFill>
                <a:latin typeface="Calibri"/>
              </a:rPr>
              <a:t>Live demo in the submission video covers exactly this path. </a:t>
            </a:r>
            <a:r>
              <a:rPr sz="1250" b="0" i="0">
                <a:solidFill>
                  <a:srgbClr val="131B31"/>
                </a:solidFill>
                <a:latin typeface="Calibri"/>
              </a:rPr>
              <a:t>Functional requirements met: browse a scenario · search · save/remove favourites · favourites persist after refresh · play or an explicit unsupported fallback · complete a conversation · complete a quiz with a score · progress from real interactions only · desktop + mobile · README-run local start.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Nothing above is a design comp: each screen is implemented and reachable in the running build — the next slide shows them as captured.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PROOF IN THE BROWSER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Captured from the running build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41527E"/>
                </a:solidFill>
                <a:latin typeface="Calibri"/>
              </a:rPr>
              <a:t>Chromium at 1280 px and 390 px · 0 console errors · files in docs/screenshots/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527048"/>
            <a:ext cx="3703320" cy="2203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/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572768"/>
            <a:ext cx="2535936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41071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1527E"/>
                </a:solidFill>
                <a:latin typeface="Calibri"/>
              </a:rPr>
              <a:t>Home · progress, streak, phrase of the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27048"/>
            <a:ext cx="3703320" cy="2203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/>
          </a:p>
        </p:txBody>
      </p:sp>
      <p:pic>
        <p:nvPicPr>
          <p:cNvPr id="9" name="Picture 8" descr="situ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372" y="1572768"/>
            <a:ext cx="2535936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341071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1527E"/>
                </a:solidFill>
                <a:latin typeface="Calibri"/>
              </a:rPr>
              <a:t>Situations · 8 cards with per-card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1" y="1527048"/>
            <a:ext cx="3703320" cy="2203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/>
          </a:p>
        </p:txBody>
      </p:sp>
      <p:pic>
        <p:nvPicPr>
          <p:cNvPr id="12" name="Picture 11" descr="scene-b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843" y="1572768"/>
            <a:ext cx="2535936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19871" y="341071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1527E"/>
                </a:solidFill>
                <a:latin typeface="Calibri"/>
              </a:rPr>
              <a:t>Role-play · reply, coaching note, alternatives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" y="3877056"/>
            <a:ext cx="3703320" cy="2203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/>
          </a:p>
        </p:txBody>
      </p:sp>
      <p:pic>
        <p:nvPicPr>
          <p:cNvPr id="15" name="Picture 14" descr="quiz-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3922776"/>
            <a:ext cx="2535936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5760720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1527E"/>
                </a:solidFill>
                <a:latin typeface="Calibri"/>
              </a:rPr>
              <a:t>Quiz · score, best kept, misses as review cards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77056"/>
            <a:ext cx="3703320" cy="2203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/>
          </a:p>
        </p:txBody>
      </p:sp>
      <p:pic>
        <p:nvPicPr>
          <p:cNvPr id="18" name="Picture 17" descr="pract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372" y="3922776"/>
            <a:ext cx="2535936" cy="1783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43400" y="5760720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1527E"/>
                </a:solidFill>
                <a:latin typeface="Calibri"/>
              </a:rPr>
              <a:t>Voice practice · capability + typed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1" y="3877056"/>
            <a:ext cx="3703320" cy="2203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ctr"/>
          </a:p>
        </p:txBody>
      </p:sp>
      <p:pic>
        <p:nvPicPr>
          <p:cNvPr id="21" name="Picture 20" descr="mobile-situa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844" y="3922776"/>
            <a:ext cx="823935" cy="1783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19871" y="5760720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1527E"/>
                </a:solidFill>
                <a:latin typeface="Calibri"/>
              </a:rPr>
              <a:t>390 px · situation detail, one-thumb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Same build the judges get: npm install &amp;&amp; npm run dev → localhost:5173 · tsc and 83 tests green on this commit.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TECH STACK &amp; ARCHITECTURE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Local-first: 100 % static, optional proxy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Frontend — </a:t>
            </a:r>
            <a:r>
              <a:rPr sz="1150" b="0" i="0">
                <a:solidFill>
                  <a:srgbClr val="41527E"/>
                </a:solidFill>
                <a:latin typeface="Calibri"/>
              </a:rPr>
              <a:t>React 18 · TypeScript 5.6 strict · Vite 8.3.5 · Tailwind CSS 3 · lucide-react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0591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Routing — </a:t>
            </a:r>
            <a:r>
              <a:rPr sz="1150" b="0" i="0">
                <a:solidFill>
                  <a:srgbClr val="41527E"/>
                </a:solidFill>
                <a:latin typeface="Calibri"/>
              </a:rPr>
              <a:t>react-router-dom 7.18.4 with HashRouter → zero rewrite rules on any static host, deep links survive refresh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3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State &amp; storage — </a:t>
            </a:r>
            <a:r>
              <a:rPr sz="1150" b="0" i="0">
                <a:solidFill>
                  <a:srgbClr val="41527E"/>
                </a:solidFill>
                <a:latin typeface="Calibri"/>
              </a:rPr>
              <a:t>one React context + localStorage key kannada-saathi:progress:v1 (versioned, defensive hydration)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02736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Speech — </a:t>
            </a:r>
            <a:r>
              <a:rPr sz="1150" b="0" i="0">
                <a:solidFill>
                  <a:srgbClr val="41527E"/>
                </a:solidFill>
                <a:latin typeface="Calibri"/>
              </a:rPr>
              <a:t>290 bundled Kannada MP3s (kn-IN neural voice) + Web Speech APIs as fallback, behind a capability detector with typed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78808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Data — </a:t>
            </a:r>
            <a:r>
              <a:rPr sz="1150" b="0" i="0">
                <a:solidFill>
                  <a:srgbClr val="41527E"/>
                </a:solidFill>
                <a:latin typeface="Calibri"/>
              </a:rPr>
              <a:t>src/data: 111 phrases · 8 categories · 6 conversations · culture notes · quiz 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79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Quality — </a:t>
            </a:r>
            <a:r>
              <a:rPr sz="1150" b="0" i="0">
                <a:solidFill>
                  <a:srgbClr val="41527E"/>
                </a:solidFill>
                <a:latin typeface="Calibri"/>
              </a:rPr>
              <a:t>Vitest 4 + Testing Library + jsdom: 7 files / 83 tests, including dataset-integrity and audio-coverage tests; CI gates the Pages 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847088"/>
            <a:ext cx="5715000" cy="566928"/>
          </a:xfrm>
          <a:prstGeom prst="roundRect">
            <a:avLst>
              <a:gd name="adj" fmla="val 8000"/>
            </a:avLst>
          </a:prstGeom>
          <a:solidFill>
            <a:srgbClr val="131B31"/>
          </a:solidFill>
          <a:ln w="12700">
            <a:solidFill>
              <a:srgbClr val="131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</a:t>
            </a:r>
            <a:r>
              <a:rPr sz="1100" b="0" i="0">
                <a:solidFill>
                  <a:srgbClr val="41527E"/>
                </a:solidFill>
                <a:latin typeface="Calibri"/>
              </a:rPr>
              <a:t>   mobile or desktop browser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03920" y="2432304"/>
            <a:ext cx="310896" cy="219456"/>
          </a:xfrm>
          <a:prstGeom prst="downArrow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06440" y="2670048"/>
            <a:ext cx="5715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Pages</a:t>
            </a:r>
            <a:r>
              <a:rPr sz="1100" b="0" i="0">
                <a:solidFill>
                  <a:srgbClr val="41527E"/>
                </a:solidFill>
                <a:latin typeface="Calibri"/>
              </a:rPr>
              <a:t>   Home · Situations · Practice · Scenes · Phrasebook · Quiz · Favorites · Culture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503920" y="3255264"/>
            <a:ext cx="310896" cy="219456"/>
          </a:xfrm>
          <a:prstGeom prst="downArrow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06440" y="3493008"/>
            <a:ext cx="5715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Components</a:t>
            </a:r>
            <a:r>
              <a:rPr sz="1100" b="0" i="0">
                <a:solidFill>
                  <a:srgbClr val="41527E"/>
                </a:solidFill>
                <a:latin typeface="Calibri"/>
              </a:rPr>
              <a:t>   PhraseCard · ScenarioCard · AskWhatToSayBox · Layout · ui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03920" y="4078224"/>
            <a:ext cx="310896" cy="219456"/>
          </a:xfrm>
          <a:prstGeom prst="downArrow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4315968"/>
            <a:ext cx="5715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hooks/useProgress  ·  hooks/useSpeech</a:t>
            </a:r>
            <a:r>
              <a:rPr sz="1100" b="0" i="0">
                <a:solidFill>
                  <a:srgbClr val="41527E"/>
                </a:solidFill>
                <a:latin typeface="Calibri"/>
              </a:rPr>
              <a:t>   actions + capability snapshot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503920" y="4901184"/>
            <a:ext cx="310896" cy="219456"/>
          </a:xfrm>
          <a:prstGeom prst="downArrow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06440" y="5138928"/>
            <a:ext cx="5715000" cy="566928"/>
          </a:xfrm>
          <a:prstGeom prst="roundRect">
            <a:avLst>
              <a:gd name="adj" fmla="val 8000"/>
            </a:avLst>
          </a:prstGeom>
          <a:solidFill>
            <a:srgbClr val="FFFCF5"/>
          </a:solidFill>
          <a:ln w="12700">
            <a:solidFill>
              <a:srgbClr val="E8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31B31"/>
                </a:solidFill>
                <a:latin typeface="Calibri"/>
              </a:rPr>
              <a:t>services/storage → localStorage</a:t>
            </a:r>
            <a:r>
              <a:rPr sz="1100" b="0" i="0">
                <a:solidFill>
                  <a:srgbClr val="41527E"/>
                </a:solidFill>
                <a:latin typeface="Calibri"/>
              </a:rPr>
              <a:t>   favourites, recent, practice, scenes, best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24144"/>
            <a:ext cx="5715000" cy="566928"/>
          </a:xfrm>
          <a:prstGeom prst="roundRect">
            <a:avLst>
              <a:gd name="adj" fmla="val 8000"/>
            </a:avLst>
          </a:prstGeom>
          <a:solidFill>
            <a:srgbClr val="131B31"/>
          </a:solidFill>
          <a:ln w="12700">
            <a:solidFill>
              <a:srgbClr val="131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290 bundled MP3s  ·  Web Speech API fallback  ·  data/phrases.ts etc.  ·  optional VITE_AI_PROXY_URL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Data flow: typed data compiled in → components call context actions → storage persists one versioned key → speech/assistant layers degrade visibly.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HONESTY BY DESIGN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What the app refuses to pretend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39711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Temptation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Kannada Saathi does instead</a:t>
                      </a:r>
                    </a:p>
                  </a:txBody>
                  <a:tcPr marL="82296" marR="82296" marT="45720" marB="45720" anchor="ctr">
                    <a:solidFill>
                      <a:srgbClr val="131B31"/>
                    </a:solidFill>
                  </a:tcPr>
                </a:tc>
              </a:tr>
              <a:tr h="39711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Show a pronunciation score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Text similarity against the target, labelled as text similarity. pronunciationAssessmentSupported() is hard-coded false.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Market it as “AI-powered”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Retrieval over reviewed data by default; an LLM is opt-in through your own proxy, with a “verify with a native speaker” warning on its output.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</a:tr>
              <a:tr h="39711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Translate freely and hope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107 lines are standard; 4 are colloquial and badged needs-native-review in the UI and in the data.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Invent dialect tables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Regional variants exist only as flagged claims with the region and the caution shown — never as universal Kannada.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</a:tr>
              <a:tr h="39711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Fake engagement numbers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Every progress figure derives from recorded interactions; a new learner legitimately sees 0.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</a:tr>
              <a:tr h="3971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Ship a stub “AI” key in the client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31B31"/>
                          </a:solidFill>
                          <a:latin typeface="Calibri"/>
                        </a:rPr>
                        <a:t>No key in the repo; .env.example documents the proxy and states why VITE_* is public.</a:t>
                      </a:r>
                    </a:p>
                  </a:txBody>
                  <a:tcPr marL="82296" marR="82296" marT="45720" marB="45720" anchor="ctr"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Automated guards: </a:t>
            </a:r>
            <a:r>
              <a:rPr sz="1300" b="0" i="0">
                <a:solidFill>
                  <a:srgbClr val="131B31"/>
                </a:solidFill>
                <a:latin typeface="Calibri"/>
              </a:rPr>
              <a:t>7 files / 83 tests — dataset shape, script purity (no other Indic or CJK glyphs inside a Kannada field), conversation graph reachability, quiz answer validity, deterministic seeded rounds, storage hydration, search ranking, component behaviour, bundled-audio coverage, favourites after remount.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Known limits stated in the README: recognition is network-backed; clipboard/mic need a secure context; 111 phrases is a starter set, not a dictionary. Playback no longer needs a system TTS voice.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9A5305"/>
                </a:solidFill>
                <a:latin typeface="Calibri"/>
              </a:rPr>
              <a:t>CONCLUSION · IMPACT · LIMITS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3000" b="1" i="0">
                <a:solidFill>
                  <a:srgbClr val="131B31"/>
                </a:solidFill>
                <a:latin typeface="Calibri"/>
              </a:rPr>
              <a:t>What changes, and what is still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F7A45"/>
                </a:solidFill>
                <a:latin typeface="Calibri"/>
              </a:rPr>
              <a:t>Expected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Access, immediately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one completed transaction per rehearsed situation, without English or a third person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Lower social cost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learners hear the polite form and why it matters before they arrive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Health and safety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symptom + duration + dosage questions reduce real errors at a counter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Language pride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Kannada script, culture and etiquette as the product, not decoration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A reusable dataset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version-controlled, review-flagged and test-guarded — others can grow it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03A2E"/>
                </a:solidFill>
                <a:latin typeface="Calibri"/>
              </a:rPr>
              <a:t>Known limitations (documented, not hidden)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3172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Browser voice gaps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recognition is Chrome/network-backed; bundled recordings remove the need for a system kn-IN TTS voice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No acoustic scoring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by design, until a reliable model exists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Coverage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111 phrases is a starter set, not a dictionary; needs a native review pass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Secure context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plain http on a LAN IP disables mic and clipboard; the app detects and says so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 i="0">
                <a:solidFill>
                  <a:srgbClr val="E8890B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31B31"/>
                </a:solidFill>
                <a:latin typeface="Calibri"/>
              </a:rPr>
              <a:t>Single-user, single-device</a:t>
            </a:r>
            <a:r>
              <a:rPr sz="1250" b="0" i="0">
                <a:solidFill>
                  <a:srgbClr val="41527E"/>
                </a:solidFill>
                <a:latin typeface="Calibri"/>
              </a:rPr>
              <a:t> — progress lives in localStorage; sync is future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3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E8890B"/>
                </a:solidFill>
                <a:latin typeface="Calibri"/>
              </a:rPr>
              <a:t>Next: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native-speaker review + public dataset with a review log · PWA offline install · situation packs for government counters and rent conversations · experimental scoring behind an explicit flag.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Everything on this slide is mirrored in README §8 “Known limitations” — the deck and the repo tell the same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solidFill>
            <a:srgbClr val="13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3600" b="1" i="0">
                <a:solidFill>
                  <a:srgbClr val="E8890B"/>
                </a:solidFill>
                <a:latin typeface="Calibri"/>
              </a:rPr>
              <a:t>ಧನ್ಯವಾದಗಳು — thank you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Kannada Saathi · Speak Kannada. Navigate Karnataka with confidence.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D9E0F2"/>
                </a:solidFill>
                <a:latin typeface="Calibri"/>
              </a:rPr>
              <a:t>GitHub repo (code, README, tests, docs)  ·  live deployment URL  ·  this deck  ·  3–5 min screen recording with voice-over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9A5305"/>
                </a:solidFill>
                <a:latin typeface="Calibri"/>
              </a:rPr>
              <a:t>Submission checklist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E8890B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131B31"/>
                </a:solidFill>
                <a:latin typeface="Calibri"/>
              </a:rPr>
              <a:t>one problem statement chosen — #3 Kannada in Everyday Life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E8890B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131B31"/>
                </a:solidFill>
                <a:latin typeface="Calibri"/>
              </a:rPr>
              <a:t>public repo with README: name, problem statement, features, stack, setup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E8890B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131B31"/>
                </a:solidFill>
                <a:latin typeface="Calibri"/>
              </a:rPr>
              <a:t>deployed project tested in a fresh browser profile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E8890B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131B31"/>
                </a:solidFill>
                <a:latin typeface="Calibri"/>
              </a:rPr>
              <a:t>3–5 min video: problem → existing gaps → demo → architecture → conclusion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E8890B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131B31"/>
                </a:solidFill>
                <a:latin typeface="Calibri"/>
              </a:rPr>
              <a:t>no secrets committed; .env.example documents the only optional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1527E"/>
                </a:solidFill>
                <a:latin typeface="Calibri"/>
              </a:rPr>
              <a:t>Kannada Digital Innovation Hackathon 2026 · HackerRank Campus Crew × NIE Mysuru · individual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9A530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